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GridLink IoT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ECD"/>
                </a:solidFill>
              </a:defRPr>
            </a:pPr>
            <a:r>
              <a:t>Self-Hosted IoT &amp; SCADA Platform</a:t>
            </a:r>
          </a:p>
        </p:txBody>
      </p:sp>
      <p:pic>
        <p:nvPicPr>
          <p:cNvPr id="5" name="Picture 4" descr="3330B344-B296-4D1B-8C2C-8AF0A7CE8225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3949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64592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6F5FA"/>
                </a:solidFill>
              </a:defRPr>
            </a:pPr>
            <a:r>
              <a:t>Industrial IoT • Telemetry • Control</a:t>
            </a:r>
          </a:p>
          <a:p>
            <a:pPr>
              <a:defRPr sz="1600">
                <a:solidFill>
                  <a:srgbClr val="B4D7E1"/>
                </a:solidFill>
              </a:defRPr>
            </a:pPr>
            <a:r>
              <a:t>ESP32  |  MQTT/EMQX  |  FastAPI  |  PostgreSQL  |  React  |  Docker</a:t>
            </a:r>
          </a:p>
          <a:p>
            <a:pPr>
              <a:defRPr sz="1500">
                <a:solidFill>
                  <a:srgbClr val="D2E1E8"/>
                </a:solidFill>
              </a:defRPr>
            </a:pPr>
            <a:r>
              <a:t>A self-hosted platform for device monitoring, feeder automation and SCADA-style substation visualization.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D96A5"/>
                </a:solidFill>
              </a:defRPr>
            </a:pPr>
            <a:r>
              <a:t>GridLink IoT Console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GridLink Control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ECD"/>
                </a:solidFill>
              </a:defRPr>
            </a:pPr>
            <a:r>
              <a:t>GridLink IoT Console — actual project interface / integration</a:t>
            </a:r>
          </a:p>
        </p:txBody>
      </p:sp>
      <p:pic>
        <p:nvPicPr>
          <p:cNvPr id="5" name="Picture 4" descr="3330B344-B296-4D1B-8C2C-8AF0A7CE8225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858000" cy="4526280"/>
          </a:xfrm>
          <a:prstGeom prst="rect">
            <a:avLst/>
          </a:prstGeom>
        </p:spPr>
      </p:pic>
      <p:pic>
        <p:nvPicPr>
          <p:cNvPr id="6" name="Picture 5" descr="FD47BE87-5C7C-46D0-88A0-1641B64C80DD(1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554480"/>
            <a:ext cx="3703320" cy="2148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393192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CE1"/>
                </a:solidFill>
              </a:defRPr>
            </a:pPr>
            <a:r>
              <a:t>Key features</a:t>
            </a:r>
          </a:p>
          <a:p>
            <a:pPr>
              <a:defRPr sz="1300">
                <a:solidFill>
                  <a:srgbClr val="E1EBF2"/>
                </a:solidFill>
              </a:defRPr>
            </a:pPr>
            <a:r>
              <a:t>• Live visualization</a:t>
            </a:r>
          </a:p>
          <a:p>
            <a:pPr>
              <a:defRPr sz="1300">
                <a:solidFill>
                  <a:srgbClr val="E1EBF2"/>
                </a:solidFill>
              </a:defRPr>
            </a:pPr>
            <a:r>
              <a:t>• ESP32 / MQTT integration</a:t>
            </a:r>
          </a:p>
          <a:p>
            <a:pPr>
              <a:defRPr sz="1300">
                <a:solidFill>
                  <a:srgbClr val="E1EBF2"/>
                </a:solidFill>
              </a:defRPr>
            </a:pPr>
            <a:r>
              <a:t>• Industrial monitoring &amp;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D96A5"/>
                </a:solidFill>
              </a:defRPr>
            </a:pPr>
            <a:r>
              <a:t>GridLink IoT Console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132/33 kV SCADA / SLD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ECD"/>
                </a:solidFill>
              </a:defRPr>
            </a:pPr>
            <a:r>
              <a:t>GridLink IoT Console — actual project interface / integration</a:t>
            </a:r>
          </a:p>
        </p:txBody>
      </p:sp>
      <p:pic>
        <p:nvPicPr>
          <p:cNvPr id="5" name="Picture 4" descr="FD47BE87-5C7C-46D0-88A0-1641B64C80DD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858000" cy="4526280"/>
          </a:xfrm>
          <a:prstGeom prst="rect">
            <a:avLst/>
          </a:prstGeom>
        </p:spPr>
      </p:pic>
      <p:pic>
        <p:nvPicPr>
          <p:cNvPr id="6" name="Picture 5" descr="0CB59482-9507-4419-98E4-9B2D5581633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554480"/>
            <a:ext cx="3703320" cy="2148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393192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CE1"/>
                </a:solidFill>
              </a:defRPr>
            </a:pPr>
            <a:r>
              <a:t>Key features</a:t>
            </a:r>
          </a:p>
          <a:p>
            <a:pPr>
              <a:defRPr sz="1300">
                <a:solidFill>
                  <a:srgbClr val="E1EBF2"/>
                </a:solidFill>
              </a:defRPr>
            </a:pPr>
            <a:r>
              <a:t>• Live visualization</a:t>
            </a:r>
          </a:p>
          <a:p>
            <a:pPr>
              <a:defRPr sz="1300">
                <a:solidFill>
                  <a:srgbClr val="E1EBF2"/>
                </a:solidFill>
              </a:defRPr>
            </a:pPr>
            <a:r>
              <a:t>• ESP32 / MQTT integration</a:t>
            </a:r>
          </a:p>
          <a:p>
            <a:pPr>
              <a:defRPr sz="1300">
                <a:solidFill>
                  <a:srgbClr val="E1EBF2"/>
                </a:solidFill>
              </a:defRPr>
            </a:pPr>
            <a:r>
              <a:t>• Industrial monitoring &amp;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D96A5"/>
                </a:solidFill>
              </a:defRPr>
            </a:pPr>
            <a:r>
              <a:t>GridLink IoT Console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Live Feeder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ECD"/>
                </a:solidFill>
              </a:defRPr>
            </a:pPr>
            <a:r>
              <a:t>GridLink IoT Console — actual project interface / integration</a:t>
            </a:r>
          </a:p>
        </p:txBody>
      </p:sp>
      <p:pic>
        <p:nvPicPr>
          <p:cNvPr id="5" name="Picture 4" descr="0CB59482-9507-4419-98E4-9B2D5581633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858000" cy="4526280"/>
          </a:xfrm>
          <a:prstGeom prst="rect">
            <a:avLst/>
          </a:prstGeom>
        </p:spPr>
      </p:pic>
      <p:pic>
        <p:nvPicPr>
          <p:cNvPr id="6" name="Picture 5" descr="232B955F-9723-41D1-BD72-B97E94D05BA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554480"/>
            <a:ext cx="3703320" cy="2148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393192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CE1"/>
                </a:solidFill>
              </a:defRPr>
            </a:pPr>
            <a:r>
              <a:t>Key features</a:t>
            </a:r>
          </a:p>
          <a:p>
            <a:pPr>
              <a:defRPr sz="1300">
                <a:solidFill>
                  <a:srgbClr val="E1EBF2"/>
                </a:solidFill>
              </a:defRPr>
            </a:pPr>
            <a:r>
              <a:t>• Live visualization</a:t>
            </a:r>
          </a:p>
          <a:p>
            <a:pPr>
              <a:defRPr sz="1300">
                <a:solidFill>
                  <a:srgbClr val="E1EBF2"/>
                </a:solidFill>
              </a:defRPr>
            </a:pPr>
            <a:r>
              <a:t>• ESP32 / MQTT integration</a:t>
            </a:r>
          </a:p>
          <a:p>
            <a:pPr>
              <a:defRPr sz="1300">
                <a:solidFill>
                  <a:srgbClr val="E1EBF2"/>
                </a:solidFill>
              </a:defRPr>
            </a:pPr>
            <a:r>
              <a:t>• Industrial monitoring &amp;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D96A5"/>
                </a:solidFill>
              </a:defRPr>
            </a:pPr>
            <a:r>
              <a:t>GridLink IoT Console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GridLink Widgets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ECD"/>
                </a:solidFill>
              </a:defRPr>
            </a:pPr>
            <a:r>
              <a:t>GridLink IoT Console — actual project interface / integration</a:t>
            </a:r>
          </a:p>
        </p:txBody>
      </p:sp>
      <p:pic>
        <p:nvPicPr>
          <p:cNvPr id="5" name="Picture 4" descr="232B955F-9723-41D1-BD72-B97E94D05BA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858000" cy="4526280"/>
          </a:xfrm>
          <a:prstGeom prst="rect">
            <a:avLst/>
          </a:prstGeom>
        </p:spPr>
      </p:pic>
      <p:pic>
        <p:nvPicPr>
          <p:cNvPr id="6" name="Picture 5" descr="5AC4A320-195D-4E34-889C-7EA42295397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554480"/>
            <a:ext cx="3703320" cy="2148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393192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CE1"/>
                </a:solidFill>
              </a:defRPr>
            </a:pPr>
            <a:r>
              <a:t>Key features</a:t>
            </a:r>
          </a:p>
          <a:p>
            <a:pPr>
              <a:defRPr sz="1300">
                <a:solidFill>
                  <a:srgbClr val="E1EBF2"/>
                </a:solidFill>
              </a:defRPr>
            </a:pPr>
            <a:r>
              <a:t>• Live visualization</a:t>
            </a:r>
          </a:p>
          <a:p>
            <a:pPr>
              <a:defRPr sz="1300">
                <a:solidFill>
                  <a:srgbClr val="E1EBF2"/>
                </a:solidFill>
              </a:defRPr>
            </a:pPr>
            <a:r>
              <a:t>• ESP32 / MQTT integration</a:t>
            </a:r>
          </a:p>
          <a:p>
            <a:pPr>
              <a:defRPr sz="1300">
                <a:solidFill>
                  <a:srgbClr val="E1EBF2"/>
                </a:solidFill>
              </a:defRPr>
            </a:pPr>
            <a:r>
              <a:t>• Industrial monitoring &amp;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D96A5"/>
                </a:solidFill>
              </a:defRPr>
            </a:pPr>
            <a:r>
              <a:t>GridLink IoT Console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Field Device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ECD"/>
                </a:solidFill>
              </a:defRPr>
            </a:pPr>
            <a:r>
              <a:t>GridLink IoT Console — actual project interface / integration</a:t>
            </a:r>
          </a:p>
        </p:txBody>
      </p:sp>
      <p:pic>
        <p:nvPicPr>
          <p:cNvPr id="5" name="Picture 4" descr="5AC4A320-195D-4E34-889C-7EA42295397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858000" cy="4526280"/>
          </a:xfrm>
          <a:prstGeom prst="rect">
            <a:avLst/>
          </a:prstGeom>
        </p:spPr>
      </p:pic>
      <p:pic>
        <p:nvPicPr>
          <p:cNvPr id="6" name="Picture 5" descr="450EAC0A-CDC1-4E2C-B9BA-AC13A39B425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554480"/>
            <a:ext cx="3703320" cy="2148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393192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CE1"/>
                </a:solidFill>
              </a:defRPr>
            </a:pPr>
            <a:r>
              <a:t>Key features</a:t>
            </a:r>
          </a:p>
          <a:p>
            <a:pPr>
              <a:defRPr sz="1300">
                <a:solidFill>
                  <a:srgbClr val="E1EBF2"/>
                </a:solidFill>
              </a:defRPr>
            </a:pPr>
            <a:r>
              <a:t>• Live visualization</a:t>
            </a:r>
          </a:p>
          <a:p>
            <a:pPr>
              <a:defRPr sz="1300">
                <a:solidFill>
                  <a:srgbClr val="E1EBF2"/>
                </a:solidFill>
              </a:defRPr>
            </a:pPr>
            <a:r>
              <a:t>• ESP32 / MQTT integration</a:t>
            </a:r>
          </a:p>
          <a:p>
            <a:pPr>
              <a:defRPr sz="1300">
                <a:solidFill>
                  <a:srgbClr val="E1EBF2"/>
                </a:solidFill>
              </a:defRPr>
            </a:pPr>
            <a:r>
              <a:t>• Industrial monitoring &amp;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D96A5"/>
                </a:solidFill>
              </a:defRPr>
            </a:pPr>
            <a:r>
              <a:t>GridLink IoT Console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SCADA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ECD"/>
                </a:solidFill>
              </a:defRPr>
            </a:pPr>
            <a:r>
              <a:t>GridLink IoT Console — actual project interface / integration</a:t>
            </a:r>
          </a:p>
        </p:txBody>
      </p:sp>
      <p:pic>
        <p:nvPicPr>
          <p:cNvPr id="5" name="Picture 4" descr="450EAC0A-CDC1-4E2C-B9BA-AC13A39B425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858000" cy="4526280"/>
          </a:xfrm>
          <a:prstGeom prst="rect">
            <a:avLst/>
          </a:prstGeom>
        </p:spPr>
      </p:pic>
      <p:pic>
        <p:nvPicPr>
          <p:cNvPr id="6" name="Picture 5" descr="508C6C8E-11A2-46C7-A79A-48463C9B58F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554480"/>
            <a:ext cx="3703320" cy="2148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393192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CE1"/>
                </a:solidFill>
              </a:defRPr>
            </a:pPr>
            <a:r>
              <a:t>Key features</a:t>
            </a:r>
          </a:p>
          <a:p>
            <a:pPr>
              <a:defRPr sz="1300">
                <a:solidFill>
                  <a:srgbClr val="E1EBF2"/>
                </a:solidFill>
              </a:defRPr>
            </a:pPr>
            <a:r>
              <a:t>• Live visualization</a:t>
            </a:r>
          </a:p>
          <a:p>
            <a:pPr>
              <a:defRPr sz="1300">
                <a:solidFill>
                  <a:srgbClr val="E1EBF2"/>
                </a:solidFill>
              </a:defRPr>
            </a:pPr>
            <a:r>
              <a:t>• ESP32 / MQTT integration</a:t>
            </a:r>
          </a:p>
          <a:p>
            <a:pPr>
              <a:defRPr sz="1300">
                <a:solidFill>
                  <a:srgbClr val="E1EBF2"/>
                </a:solidFill>
              </a:defRPr>
            </a:pPr>
            <a:r>
              <a:t>• Industrial monitoring &amp;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D96A5"/>
                </a:solidFill>
              </a:defRPr>
            </a:pPr>
            <a:r>
              <a:t>GridLink IoT Console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ECD"/>
                </a:solidFill>
              </a:defRPr>
            </a:pPr>
            <a:r>
              <a:t>End-to-end self-hosted IoT / SCADA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241280" cy="713232"/>
          </a:xfrm>
          <a:prstGeom prst="roundRect">
            <a:avLst/>
          </a:prstGeom>
          <a:solidFill>
            <a:srgbClr val="163C52"/>
          </a:solidFill>
          <a:ln>
            <a:solidFill>
              <a:srgbClr val="0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ESP32 / Field Devices</a:t>
            </a:r>
          </a:p>
          <a:p>
            <a:pPr algn="ctr">
              <a:defRPr sz="1100">
                <a:solidFill>
                  <a:srgbClr val="BED7E1"/>
                </a:solidFill>
              </a:defRPr>
            </a:pPr>
            <a:r>
              <a:t>Sensors • relays • 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10241280" cy="713232"/>
          </a:xfrm>
          <a:prstGeom prst="roundRect">
            <a:avLst/>
          </a:prstGeom>
          <a:solidFill>
            <a:srgbClr val="163C52"/>
          </a:solidFill>
          <a:ln>
            <a:solidFill>
              <a:srgbClr val="0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RS485 / Modbus</a:t>
            </a:r>
          </a:p>
          <a:p>
            <a:pPr algn="ctr">
              <a:defRPr sz="1100">
                <a:solidFill>
                  <a:srgbClr val="BED7E1"/>
                </a:solidFill>
              </a:defRPr>
            </a:pPr>
            <a:r>
              <a:t>Industrial field communication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10241280" cy="713232"/>
          </a:xfrm>
          <a:prstGeom prst="roundRect">
            <a:avLst/>
          </a:prstGeom>
          <a:solidFill>
            <a:srgbClr val="163C52"/>
          </a:solidFill>
          <a:ln>
            <a:solidFill>
              <a:srgbClr val="0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MQTT / EMQX</a:t>
            </a:r>
          </a:p>
          <a:p>
            <a:pPr algn="ctr">
              <a:defRPr sz="1100">
                <a:solidFill>
                  <a:srgbClr val="BED7E1"/>
                </a:solidFill>
              </a:defRPr>
            </a:pPr>
            <a:r>
              <a:t>Telemetry + command messaging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10241280" cy="713232"/>
          </a:xfrm>
          <a:prstGeom prst="roundRect">
            <a:avLst/>
          </a:prstGeom>
          <a:solidFill>
            <a:srgbClr val="163C52"/>
          </a:solidFill>
          <a:ln>
            <a:solidFill>
              <a:srgbClr val="0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FastAPI + PostgreSQL</a:t>
            </a:r>
          </a:p>
          <a:p>
            <a:pPr algn="ctr">
              <a:defRPr sz="1100">
                <a:solidFill>
                  <a:srgbClr val="BED7E1"/>
                </a:solidFill>
              </a:defRPr>
            </a:pPr>
            <a:r>
              <a:t>API, device services +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29200"/>
            <a:ext cx="10241280" cy="713232"/>
          </a:xfrm>
          <a:prstGeom prst="roundRect">
            <a:avLst/>
          </a:prstGeom>
          <a:solidFill>
            <a:srgbClr val="163C52"/>
          </a:solidFill>
          <a:ln>
            <a:solidFill>
              <a:srgbClr val="0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React GridLink Console</a:t>
            </a:r>
          </a:p>
          <a:p>
            <a:pPr algn="ctr">
              <a:defRPr sz="1100">
                <a:solidFill>
                  <a:srgbClr val="BED7E1"/>
                </a:solidFill>
              </a:defRPr>
            </a:pPr>
            <a:r>
              <a:t>Dashboards, widgets, SLD +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D96A5"/>
                </a:solidFill>
              </a:defRPr>
            </a:pPr>
            <a:r>
              <a:t>GridLink IoT Console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1EBF2"/>
                </a:solidFill>
              </a:defRPr>
            </a:pPr>
            <a:r>
              <a:t>Frontend: React + Vite</a:t>
            </a:r>
            <a:br/>
            <a:r>
              <a:t>Backend: FastAPI / Python</a:t>
            </a:r>
            <a:br/>
            <a:r>
              <a:t>Database: PostgreSQL</a:t>
            </a:r>
            <a:br/>
            <a:r>
              <a:t>Messaging: MQTT / EMQX</a:t>
            </a:r>
            <a:br/>
            <a:r>
              <a:t>Edge: ESP32</a:t>
            </a:r>
            <a:br/>
            <a:r>
              <a:t>Field protocol: RS485 / Modbus RTU</a:t>
            </a:r>
            <a:br/>
            <a:r>
              <a:t>Deployment: Docker /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D96A5"/>
                </a:solidFill>
              </a:defRPr>
            </a:pPr>
            <a:r>
              <a:t>GridLink IoT Console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1EBF2"/>
                </a:solidFill>
              </a:defRPr>
            </a:pPr>
            <a:r>
              <a:t>GridLink-IoT-Console/</a:t>
            </a:r>
            <a:br/>
            <a:r>
              <a:t>frontend/ • backend/ • firmware/ • docs/</a:t>
            </a:r>
            <a:br/>
            <a:r>
              <a:t>docker-compose.yml • .env.example • .gitignore • README.md</a:t>
            </a:r>
            <a:br/>
            <a:br/>
            <a:r>
              <a:t>Firmware includes ESP32 phase-1, SCADA telemetry and motor automation.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D96A5"/>
                </a:solidFill>
              </a:defRPr>
            </a:pPr>
            <a:r>
              <a:t>GridLink IoT Console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1EBF2"/>
                </a:solidFill>
              </a:defRPr>
            </a:pPr>
            <a:r>
              <a:t>GridLink IoT Console brings embedded systems, industrial communication, MQTT, backend APIs, database services and a modern web dashboard into one self-hosted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D96A5"/>
                </a:solidFill>
              </a:defRPr>
            </a:pPr>
            <a:r>
              <a:t>GridLink IoT Console  •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